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83" r:id="rId2"/>
    <p:sldId id="293" r:id="rId3"/>
    <p:sldId id="258" r:id="rId4"/>
    <p:sldId id="259" r:id="rId5"/>
    <p:sldId id="260" r:id="rId6"/>
    <p:sldId id="261" r:id="rId7"/>
    <p:sldId id="262" r:id="rId8"/>
    <p:sldId id="263" r:id="rId9"/>
    <p:sldId id="264" r:id="rId10"/>
    <p:sldId id="265" r:id="rId11"/>
    <p:sldId id="266" r:id="rId12"/>
    <p:sldId id="267" r:id="rId13"/>
    <p:sldId id="268" r:id="rId14"/>
    <p:sldId id="269" r:id="rId15"/>
    <p:sldId id="279" r:id="rId16"/>
    <p:sldId id="280" r:id="rId17"/>
    <p:sldId id="270" r:id="rId18"/>
    <p:sldId id="271" r:id="rId19"/>
    <p:sldId id="272" r:id="rId20"/>
    <p:sldId id="273" r:id="rId21"/>
    <p:sldId id="274" r:id="rId22"/>
    <p:sldId id="282" r:id="rId23"/>
    <p:sldId id="275" r:id="rId24"/>
    <p:sldId id="276" r:id="rId25"/>
    <p:sldId id="277" r:id="rId26"/>
    <p:sldId id="278" r:id="rId27"/>
    <p:sldId id="257" r:id="rId28"/>
    <p:sldId id="295" r:id="rId29"/>
    <p:sldId id="296" r:id="rId30"/>
    <p:sldId id="297" r:id="rId31"/>
    <p:sldId id="298" r:id="rId32"/>
    <p:sldId id="299" r:id="rId33"/>
    <p:sldId id="300" r:id="rId34"/>
    <p:sldId id="301" r:id="rId35"/>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834" y="5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2AA0EC-AFE3-4794-9950-8148993773F1}" type="datetimeFigureOut">
              <a:rPr lang="id-ID" smtClean="0"/>
              <a:pPr/>
              <a:t>11/01/2024</a:t>
            </a:fld>
            <a:endParaRPr lang="id-ID"/>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5C55F-C1D9-4106-BC51-6F32604E2632}" type="slidenum">
              <a:rPr lang="id-ID" smtClean="0"/>
              <a:pPr/>
              <a:t>‹#›</a:t>
            </a:fld>
            <a:endParaRPr lang="id-ID"/>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id-ID" dirty="0"/>
          </a:p>
        </p:txBody>
      </p:sp>
      <p:sp>
        <p:nvSpPr>
          <p:cNvPr id="4" name="Slide Number Placeholder 3"/>
          <p:cNvSpPr>
            <a:spLocks noGrp="1"/>
          </p:cNvSpPr>
          <p:nvPr>
            <p:ph type="sldNum" sz="quarter" idx="10"/>
          </p:nvPr>
        </p:nvSpPr>
        <p:spPr/>
        <p:txBody>
          <a:bodyPr/>
          <a:lstStyle/>
          <a:p>
            <a:fld id="{ADE5C55F-C1D9-4106-BC51-6F32604E2632}" type="slidenum">
              <a:rPr lang="id-ID" smtClean="0"/>
              <a:pPr/>
              <a:t>14</a:t>
            </a:fld>
            <a:endParaRPr lang="id-I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id-ID" dirty="0"/>
          </a:p>
        </p:txBody>
      </p:sp>
      <p:sp>
        <p:nvSpPr>
          <p:cNvPr id="4" name="Slide Number Placeholder 3"/>
          <p:cNvSpPr>
            <a:spLocks noGrp="1"/>
          </p:cNvSpPr>
          <p:nvPr>
            <p:ph type="sldNum" sz="quarter" idx="10"/>
          </p:nvPr>
        </p:nvSpPr>
        <p:spPr/>
        <p:txBody>
          <a:bodyPr/>
          <a:lstStyle/>
          <a:p>
            <a:fld id="{8E46655D-6BCF-472E-A102-C9EDFECA631F}" type="slidenum">
              <a:rPr lang="id-ID" smtClean="0"/>
              <a:pPr/>
              <a:t>27</a:t>
            </a:fld>
            <a:endParaRPr lang="id-ID"/>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20" name="Footer Placeholder 19"/>
          <p:cNvSpPr>
            <a:spLocks noGrp="1"/>
          </p:cNvSpPr>
          <p:nvPr>
            <p:ph type="ftr" sz="quarter" idx="11"/>
          </p:nvPr>
        </p:nvSpPr>
        <p:spPr/>
        <p:txBody>
          <a:bodyPr/>
          <a:lstStyle/>
          <a:p>
            <a:endParaRPr lang="id-ID"/>
          </a:p>
        </p:txBody>
      </p:sp>
      <p:sp>
        <p:nvSpPr>
          <p:cNvPr id="10" name="Slide Number Placeholder 9"/>
          <p:cNvSpPr>
            <a:spLocks noGrp="1"/>
          </p:cNvSpPr>
          <p:nvPr>
            <p:ph type="sldNum" sz="quarter" idx="12"/>
          </p:nvPr>
        </p:nvSpPr>
        <p:spPr/>
        <p:txBody>
          <a:bodyPr/>
          <a:lstStyle/>
          <a:p>
            <a:fld id="{903C7512-0D7F-4CE4-9183-B1BF27C05DF7}" type="slidenum">
              <a:rPr lang="id-ID" smtClean="0"/>
              <a:pPr/>
              <a:t>‹#›</a:t>
            </a:fld>
            <a:endParaRPr lang="id-ID"/>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903C7512-0D7F-4CE4-9183-B1BF27C05DF7}" type="slidenum">
              <a:rPr lang="id-ID" smtClean="0"/>
              <a:pPr/>
              <a:t>‹#›</a:t>
            </a:fld>
            <a:endParaRPr lang="id-ID"/>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Date Placeholder 1"/>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903C7512-0D7F-4CE4-9183-B1BF27C05DF7}" type="slidenum">
              <a:rPr lang="id-ID" smtClean="0"/>
              <a:pPr/>
              <a:t>‹#›</a:t>
            </a:fld>
            <a:endParaRPr lang="id-ID"/>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903C7512-0D7F-4CE4-9183-B1BF27C05DF7}" type="slidenum">
              <a:rPr lang="id-ID" smtClean="0"/>
              <a:pPr/>
              <a:t>‹#›</a:t>
            </a:fld>
            <a:endParaRPr lang="id-ID"/>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459FE07-08A0-4487-A465-6A4C3228B743}" type="datetimeFigureOut">
              <a:rPr lang="id-ID" smtClean="0"/>
              <a:pPr/>
              <a:t>11/01/2024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903C7512-0D7F-4CE4-9183-B1BF27C05DF7}" type="slidenum">
              <a:rPr lang="id-ID" smtClean="0"/>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E459FE07-08A0-4487-A465-6A4C3228B743}" type="datetimeFigureOut">
              <a:rPr lang="id-ID" smtClean="0"/>
              <a:pPr/>
              <a:t>11/01/2024</a:t>
            </a:fld>
            <a:endParaRPr lang="id-ID"/>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id-ID"/>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903C7512-0D7F-4CE4-9183-B1BF27C05DF7}" type="slidenum">
              <a:rPr lang="id-ID" smtClean="0"/>
              <a:pPr/>
              <a:t>‹#›</a:t>
            </a:fld>
            <a:endParaRPr lang="id-ID"/>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rumus.co.id/wp-content/uploads/2019/09/Simbol-Alam.jp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rumus.co.id/wp-content/uploads/2019/09/Simbol-Garis.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rumus.co.id/wp-content/uploads/2019/09/Simbol-Area.jp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quipper.co.id/wp-content/uploads/2019/10/Peta-Azimuthal.pn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quipper.co.id/wp-content/uploads/2019/10/Peta-Silinder.pn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quipper.co.id/wp-content/uploads/2019/10/peta-kerucut.p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EACE5B-7BA6-41D1-9BA4-9E8C0DE62F71}"/>
              </a:ext>
            </a:extLst>
          </p:cNvPr>
          <p:cNvSpPr>
            <a:spLocks noGrp="1"/>
          </p:cNvSpPr>
          <p:nvPr>
            <p:ph idx="1"/>
          </p:nvPr>
        </p:nvSpPr>
        <p:spPr>
          <a:xfrm>
            <a:off x="1775520" y="1447800"/>
            <a:ext cx="8682168" cy="3493368"/>
          </a:xfrm>
        </p:spPr>
        <p:txBody>
          <a:bodyPr>
            <a:normAutofit/>
          </a:bodyPr>
          <a:lstStyle/>
          <a:p>
            <a:pPr marL="82296" indent="0" algn="ctr">
              <a:buNone/>
            </a:pPr>
            <a:r>
              <a:rPr lang="en-US" sz="5400" b="1" dirty="0"/>
              <a:t>SIMBOLISASI DAN GENERALISASI DAN PROYEKSI</a:t>
            </a:r>
            <a:endParaRPr lang="en-ID" b="1" dirty="0"/>
          </a:p>
        </p:txBody>
      </p:sp>
    </p:spTree>
    <p:extLst>
      <p:ext uri="{BB962C8B-B14F-4D97-AF65-F5344CB8AC3E}">
        <p14:creationId xmlns:p14="http://schemas.microsoft.com/office/powerpoint/2010/main" val="2915420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Simbolisasi</a:t>
            </a:r>
          </a:p>
        </p:txBody>
      </p:sp>
      <p:sp>
        <p:nvSpPr>
          <p:cNvPr id="3" name="Content Placeholder 2"/>
          <p:cNvSpPr>
            <a:spLocks noGrp="1"/>
          </p:cNvSpPr>
          <p:nvPr>
            <p:ph idx="1"/>
          </p:nvPr>
        </p:nvSpPr>
        <p:spPr/>
        <p:txBody>
          <a:bodyPr>
            <a:normAutofit/>
          </a:bodyPr>
          <a:lstStyle/>
          <a:p>
            <a:pPr marL="88900" indent="-6350" algn="just">
              <a:buNone/>
            </a:pPr>
            <a:r>
              <a:rPr lang="id-ID" sz="3600" dirty="0"/>
              <a:t>Sebuah tanda atau gambar yang mewakili dari berbagai bentuk dan tampak yang ada permukaan bumi sehingga terdapat pada lokasi atau simbol yang telah ditempatkan sesuai pada peta utama dan yang telah ditempatkan pada legenda.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Fungsi Simbol pada peta</a:t>
            </a:r>
          </a:p>
        </p:txBody>
      </p:sp>
      <p:sp>
        <p:nvSpPr>
          <p:cNvPr id="3" name="Content Placeholder 2"/>
          <p:cNvSpPr>
            <a:spLocks noGrp="1"/>
          </p:cNvSpPr>
          <p:nvPr>
            <p:ph idx="1"/>
          </p:nvPr>
        </p:nvSpPr>
        <p:spPr>
          <a:xfrm>
            <a:off x="2959608" y="1428736"/>
            <a:ext cx="7498080" cy="4033846"/>
          </a:xfrm>
        </p:spPr>
        <p:txBody>
          <a:bodyPr/>
          <a:lstStyle/>
          <a:p>
            <a:pPr marL="88900" indent="-6350" algn="just">
              <a:buNone/>
            </a:pPr>
            <a:r>
              <a:rPr lang="id-ID" sz="4000" dirty="0"/>
              <a:t>Untuk mengganti dan mewakili dari beberapa objek dalam penggunaan pada peta.</a:t>
            </a:r>
          </a:p>
          <a:p>
            <a:pPr marL="88900" indent="-6350" algn="just">
              <a:buNone/>
            </a:pPr>
            <a:br>
              <a:rPr lang="id-ID" dirty="0"/>
            </a:br>
            <a:endParaRPr lang="id-ID"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Syarat Simbol Peta</a:t>
            </a:r>
          </a:p>
        </p:txBody>
      </p:sp>
      <p:sp>
        <p:nvSpPr>
          <p:cNvPr id="3" name="Content Placeholder 2"/>
          <p:cNvSpPr>
            <a:spLocks noGrp="1"/>
          </p:cNvSpPr>
          <p:nvPr>
            <p:ph idx="1"/>
          </p:nvPr>
        </p:nvSpPr>
        <p:spPr/>
        <p:txBody>
          <a:bodyPr/>
          <a:lstStyle/>
          <a:p>
            <a:pPr lvl="0"/>
            <a:r>
              <a:rPr lang="id-ID" dirty="0">
                <a:sym typeface="Symbol"/>
              </a:rPr>
              <a:t> Sederhana</a:t>
            </a:r>
          </a:p>
          <a:p>
            <a:pPr lvl="0"/>
            <a:r>
              <a:rPr lang="id-ID" dirty="0"/>
              <a:t> Mudah digambar</a:t>
            </a:r>
          </a:p>
          <a:p>
            <a:pPr lvl="0"/>
            <a:r>
              <a:rPr lang="id-ID" dirty="0">
                <a:sym typeface="Symbol"/>
              </a:rPr>
              <a:t></a:t>
            </a:r>
            <a:r>
              <a:rPr lang="id-ID" dirty="0"/>
              <a:t>Mudah dibaca</a:t>
            </a:r>
          </a:p>
          <a:p>
            <a:pPr lvl="0"/>
            <a:r>
              <a:rPr lang="id-ID" dirty="0">
                <a:sym typeface="Symbol"/>
              </a:rPr>
              <a:t></a:t>
            </a:r>
            <a:r>
              <a:rPr lang="id-ID" dirty="0"/>
              <a:t>Mencerminkan data dengan teliti</a:t>
            </a:r>
          </a:p>
          <a:p>
            <a:pPr lvl="0"/>
            <a:r>
              <a:rPr lang="id-ID" dirty="0">
                <a:sym typeface="Symbol"/>
              </a:rPr>
              <a:t></a:t>
            </a:r>
            <a:r>
              <a:rPr lang="id-ID" dirty="0"/>
              <a:t>Berbentuk seragam dalam suatu peta  ataupun peta seri</a:t>
            </a:r>
          </a:p>
          <a:p>
            <a:pPr lvl="0"/>
            <a:r>
              <a:rPr lang="id-ID" dirty="0">
                <a:sym typeface="Symbol"/>
              </a:rPr>
              <a:t></a:t>
            </a:r>
            <a:r>
              <a:rPr lang="id-ID" dirty="0"/>
              <a:t>Bersifat umum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b="1" dirty="0"/>
              <a:t>Klasifikasi Data untuk Simbol</a:t>
            </a:r>
          </a:p>
        </p:txBody>
      </p:sp>
      <p:sp>
        <p:nvSpPr>
          <p:cNvPr id="3" name="Content Placeholder 2"/>
          <p:cNvSpPr>
            <a:spLocks noGrp="1"/>
          </p:cNvSpPr>
          <p:nvPr>
            <p:ph idx="1"/>
          </p:nvPr>
        </p:nvSpPr>
        <p:spPr>
          <a:xfrm>
            <a:off x="2959608" y="2000240"/>
            <a:ext cx="7498080" cy="4248160"/>
          </a:xfrm>
        </p:spPr>
        <p:txBody>
          <a:bodyPr/>
          <a:lstStyle/>
          <a:p>
            <a:pPr marL="596646" indent="-514350">
              <a:buAutoNum type="arabicPeriod"/>
            </a:pPr>
            <a:r>
              <a:rPr lang="id-ID" b="1" dirty="0"/>
              <a:t>Data Kualitatif</a:t>
            </a:r>
          </a:p>
          <a:p>
            <a:pPr marL="596646" indent="-514350">
              <a:buAutoNum type="arabicPeriod"/>
            </a:pPr>
            <a:r>
              <a:rPr lang="id-ID" b="1" dirty="0"/>
              <a:t>Data Kuantitatif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Jenis Simbol</a:t>
            </a:r>
          </a:p>
        </p:txBody>
      </p:sp>
      <p:sp>
        <p:nvSpPr>
          <p:cNvPr id="3" name="Content Placeholder 2"/>
          <p:cNvSpPr>
            <a:spLocks noGrp="1"/>
          </p:cNvSpPr>
          <p:nvPr>
            <p:ph idx="1"/>
          </p:nvPr>
        </p:nvSpPr>
        <p:spPr/>
        <p:txBody>
          <a:bodyPr/>
          <a:lstStyle/>
          <a:p>
            <a:pPr marL="88900" indent="-6350">
              <a:buNone/>
            </a:pPr>
            <a:r>
              <a:rPr lang="id-ID" dirty="0"/>
              <a:t>Berdasarkan Wujud:</a:t>
            </a:r>
          </a:p>
          <a:p>
            <a:pPr marL="596900" indent="-514350">
              <a:buAutoNum type="arabicPeriod"/>
            </a:pPr>
            <a:r>
              <a:rPr lang="id-ID" dirty="0"/>
              <a:t>Simbol Piktoral</a:t>
            </a:r>
          </a:p>
          <a:p>
            <a:pPr marL="596900" indent="-514350">
              <a:buAutoNum type="arabicPeriod"/>
            </a:pPr>
            <a:r>
              <a:rPr lang="id-ID" dirty="0"/>
              <a:t>Simbol Abstrak</a:t>
            </a:r>
          </a:p>
          <a:p>
            <a:pPr marL="596900" indent="-514350">
              <a:buAutoNum type="arabicPeriod"/>
            </a:pPr>
            <a:r>
              <a:rPr lang="id-ID" dirty="0"/>
              <a:t>Simbol angka dan Huruf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Jenis Simbol</a:t>
            </a:r>
          </a:p>
        </p:txBody>
      </p:sp>
      <p:sp>
        <p:nvSpPr>
          <p:cNvPr id="3" name="Content Placeholder 2"/>
          <p:cNvSpPr>
            <a:spLocks noGrp="1"/>
          </p:cNvSpPr>
          <p:nvPr>
            <p:ph idx="1"/>
          </p:nvPr>
        </p:nvSpPr>
        <p:spPr>
          <a:xfrm>
            <a:off x="2959608" y="1447800"/>
            <a:ext cx="7498080" cy="2266952"/>
          </a:xfrm>
        </p:spPr>
        <p:txBody>
          <a:bodyPr/>
          <a:lstStyle/>
          <a:p>
            <a:pPr>
              <a:buNone/>
            </a:pPr>
            <a:r>
              <a:rPr lang="id-ID" b="1" dirty="0"/>
              <a:t>a. Simbol Budaya</a:t>
            </a:r>
            <a:endParaRPr lang="id-ID" dirty="0"/>
          </a:p>
          <a:p>
            <a:pPr algn="just">
              <a:buNone/>
            </a:pPr>
            <a:r>
              <a:rPr lang="id-ID" b="1" dirty="0"/>
              <a:t>	</a:t>
            </a:r>
            <a:r>
              <a:rPr lang="id-ID" dirty="0"/>
              <a:t>merupakan simbol yang mewakili kehidupan budaya, seperti jalan, rel, kota dan lain sebagainya.</a:t>
            </a:r>
          </a:p>
          <a:p>
            <a:pPr marL="88900" indent="-6350" algn="just">
              <a:buNone/>
            </a:pPr>
            <a:endParaRPr lang="id-ID" dirty="0"/>
          </a:p>
        </p:txBody>
      </p:sp>
      <p:pic>
        <p:nvPicPr>
          <p:cNvPr id="5" name="Picture 4" descr="http://dc149.4shared.com/doc/4D_Bvl-W/preview_html_244e8b74.jpg"/>
          <p:cNvPicPr/>
          <p:nvPr/>
        </p:nvPicPr>
        <p:blipFill>
          <a:blip r:embed="rId2"/>
          <a:srcRect/>
          <a:stretch>
            <a:fillRect/>
          </a:stretch>
        </p:blipFill>
        <p:spPr bwMode="auto">
          <a:xfrm>
            <a:off x="3952861" y="3857629"/>
            <a:ext cx="3381375" cy="1025401"/>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b. Simbol Alam</a:t>
            </a:r>
            <a:endParaRPr lang="id-ID" dirty="0"/>
          </a:p>
        </p:txBody>
      </p:sp>
      <p:sp>
        <p:nvSpPr>
          <p:cNvPr id="3" name="Content Placeholder 2"/>
          <p:cNvSpPr>
            <a:spLocks noGrp="1"/>
          </p:cNvSpPr>
          <p:nvPr>
            <p:ph idx="1"/>
          </p:nvPr>
        </p:nvSpPr>
        <p:spPr>
          <a:xfrm>
            <a:off x="2959608" y="1447800"/>
            <a:ext cx="7498080" cy="1766886"/>
          </a:xfrm>
        </p:spPr>
        <p:txBody>
          <a:bodyPr/>
          <a:lstStyle/>
          <a:p>
            <a:pPr marL="88900" indent="-6350" algn="just">
              <a:buNone/>
            </a:pPr>
            <a:r>
              <a:rPr lang="id-ID" dirty="0"/>
              <a:t>merupakan salah satu simbol yang mewakili tampak alam, seperti sungai, gunung, danau dan lain sebagainya.</a:t>
            </a:r>
          </a:p>
        </p:txBody>
      </p:sp>
      <p:pic>
        <p:nvPicPr>
          <p:cNvPr id="4" name="Picture 3" descr="Simbol-Alam">
            <a:hlinkClick r:id="rId2"/>
          </p:cNvPr>
          <p:cNvPicPr/>
          <p:nvPr/>
        </p:nvPicPr>
        <p:blipFill>
          <a:blip r:embed="rId3"/>
          <a:srcRect/>
          <a:stretch>
            <a:fillRect/>
          </a:stretch>
        </p:blipFill>
        <p:spPr bwMode="auto">
          <a:xfrm>
            <a:off x="3881422" y="3143248"/>
            <a:ext cx="4572032" cy="3357586"/>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c. </a:t>
            </a:r>
            <a:r>
              <a:rPr lang="id-ID" b="1" dirty="0"/>
              <a:t>Simbol Garis</a:t>
            </a:r>
            <a:endParaRPr lang="id-ID" dirty="0"/>
          </a:p>
        </p:txBody>
      </p:sp>
      <p:sp>
        <p:nvSpPr>
          <p:cNvPr id="3" name="Content Placeholder 2"/>
          <p:cNvSpPr>
            <a:spLocks noGrp="1"/>
          </p:cNvSpPr>
          <p:nvPr>
            <p:ph idx="1"/>
          </p:nvPr>
        </p:nvSpPr>
        <p:spPr>
          <a:xfrm>
            <a:off x="2959608" y="1447800"/>
            <a:ext cx="7498080" cy="1766886"/>
          </a:xfrm>
        </p:spPr>
        <p:txBody>
          <a:bodyPr/>
          <a:lstStyle/>
          <a:p>
            <a:pPr marL="88900" indent="-6350" algn="just">
              <a:buNone/>
            </a:pPr>
            <a:r>
              <a:rPr lang="id-ID" dirty="0"/>
              <a:t>data geografis untuk mewakili sebuah hubungan diantaranya adalah jarak, sungai, jalan, rel dan batas wilayah.</a:t>
            </a:r>
          </a:p>
        </p:txBody>
      </p:sp>
      <p:pic>
        <p:nvPicPr>
          <p:cNvPr id="4" name="Picture 3" descr="Simbol-Garis">
            <a:hlinkClick r:id="rId2"/>
          </p:cNvPr>
          <p:cNvPicPr/>
          <p:nvPr/>
        </p:nvPicPr>
        <p:blipFill>
          <a:blip r:embed="rId3"/>
          <a:srcRect/>
          <a:stretch>
            <a:fillRect/>
          </a:stretch>
        </p:blipFill>
        <p:spPr bwMode="auto">
          <a:xfrm>
            <a:off x="4238612" y="3286124"/>
            <a:ext cx="3929090" cy="3571876"/>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d. Simbol Titik</a:t>
            </a:r>
            <a:endParaRPr lang="id-ID" dirty="0"/>
          </a:p>
        </p:txBody>
      </p:sp>
      <p:sp>
        <p:nvSpPr>
          <p:cNvPr id="3" name="Content Placeholder 2"/>
          <p:cNvSpPr>
            <a:spLocks noGrp="1"/>
          </p:cNvSpPr>
          <p:nvPr>
            <p:ph idx="1"/>
          </p:nvPr>
        </p:nvSpPr>
        <p:spPr>
          <a:xfrm>
            <a:off x="2959608" y="1447800"/>
            <a:ext cx="7498080" cy="1624010"/>
          </a:xfrm>
        </p:spPr>
        <p:txBody>
          <a:bodyPr/>
          <a:lstStyle/>
          <a:p>
            <a:pPr marL="88900" indent="-6350" algn="just">
              <a:buNone/>
            </a:pPr>
            <a:r>
              <a:rPr lang="id-ID" dirty="0"/>
              <a:t>merupakan tempat yang digunakan untuk mewakili sebuah objek-objek. seperti, kota, gunung dan lain sebagainya.</a:t>
            </a:r>
          </a:p>
        </p:txBody>
      </p:sp>
      <p:pic>
        <p:nvPicPr>
          <p:cNvPr id="1026" name="Picture 2"/>
          <p:cNvPicPr>
            <a:picLocks noChangeAspect="1" noChangeArrowheads="1"/>
          </p:cNvPicPr>
          <p:nvPr/>
        </p:nvPicPr>
        <p:blipFill>
          <a:blip r:embed="rId2"/>
          <a:srcRect/>
          <a:stretch>
            <a:fillRect/>
          </a:stretch>
        </p:blipFill>
        <p:spPr bwMode="auto">
          <a:xfrm>
            <a:off x="4381488" y="3143248"/>
            <a:ext cx="2571768" cy="3660814"/>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e. Simbol Area</a:t>
            </a:r>
            <a:endParaRPr lang="id-ID" dirty="0"/>
          </a:p>
        </p:txBody>
      </p:sp>
      <p:sp>
        <p:nvSpPr>
          <p:cNvPr id="3" name="Content Placeholder 2"/>
          <p:cNvSpPr>
            <a:spLocks noGrp="1"/>
          </p:cNvSpPr>
          <p:nvPr>
            <p:ph idx="1"/>
          </p:nvPr>
        </p:nvSpPr>
        <p:spPr>
          <a:xfrm>
            <a:off x="2959608" y="1447800"/>
            <a:ext cx="7498080" cy="1624010"/>
          </a:xfrm>
        </p:spPr>
        <p:txBody>
          <a:bodyPr/>
          <a:lstStyle/>
          <a:p>
            <a:pPr marL="88900" indent="-6350" algn="just">
              <a:buNone/>
            </a:pPr>
            <a:r>
              <a:rPr lang="id-ID" dirty="0"/>
              <a:t>suatu tempat yang tertentu yang digunakan untuk mewakili suatu luas wilayah seperti, danau, rawa, gurun dan hutan.</a:t>
            </a:r>
          </a:p>
        </p:txBody>
      </p:sp>
      <p:pic>
        <p:nvPicPr>
          <p:cNvPr id="4" name="Picture 3" descr="Simbol-Area">
            <a:hlinkClick r:id="rId2"/>
          </p:cNvPr>
          <p:cNvPicPr/>
          <p:nvPr/>
        </p:nvPicPr>
        <p:blipFill>
          <a:blip r:embed="rId3"/>
          <a:srcRect/>
          <a:stretch>
            <a:fillRect/>
          </a:stretch>
        </p:blipFill>
        <p:spPr bwMode="auto">
          <a:xfrm>
            <a:off x="4024298" y="3143248"/>
            <a:ext cx="4357718" cy="328614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Generalisasi Peta</a:t>
            </a:r>
          </a:p>
        </p:txBody>
      </p:sp>
      <p:sp>
        <p:nvSpPr>
          <p:cNvPr id="3" name="Content Placeholder 2"/>
          <p:cNvSpPr>
            <a:spLocks noGrp="1"/>
          </p:cNvSpPr>
          <p:nvPr>
            <p:ph idx="1"/>
          </p:nvPr>
        </p:nvSpPr>
        <p:spPr/>
        <p:txBody>
          <a:bodyPr/>
          <a:lstStyle/>
          <a:p>
            <a:pPr marL="88900" indent="-6350" algn="just">
              <a:buNone/>
            </a:pPr>
            <a:r>
              <a:rPr lang="id-ID" dirty="0"/>
              <a:t>Memilih dan menyerdehanakan penyajian unsur-unsur permukaan bumi diatas peta yang berhubungan dengan sakala dan tujuan peta (kepentingan unsur tertentu) yang akan di buat.</a:t>
            </a:r>
          </a:p>
          <a:p>
            <a:pPr marL="88900" indent="-6350" algn="just">
              <a:buNone/>
            </a:pPr>
            <a:r>
              <a:rPr lang="id-ID" dirty="0"/>
              <a:t>Unsur-unsur yang akan di sajikan di atas peta. Semakin kecil skala peta maka semakin besar proses generalisasi.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6976" y="785794"/>
            <a:ext cx="7498080" cy="4800600"/>
          </a:xfrm>
        </p:spPr>
        <p:txBody>
          <a:bodyPr/>
          <a:lstStyle/>
          <a:p>
            <a:pPr>
              <a:buNone/>
            </a:pPr>
            <a:r>
              <a:rPr lang="id-ID" b="1" dirty="0"/>
              <a:t>Generalisasi peta terjadi karena :</a:t>
            </a:r>
          </a:p>
          <a:p>
            <a:pPr marL="596646" indent="-514350" algn="just">
              <a:buAutoNum type="arabicPeriod"/>
            </a:pPr>
            <a:r>
              <a:rPr lang="id-ID" dirty="0"/>
              <a:t>ketidakmungkinan peta menyajikan seluruh informasi muka bumi</a:t>
            </a:r>
          </a:p>
          <a:p>
            <a:pPr marL="596646" indent="-514350">
              <a:buAutoNum type="arabicPeriod"/>
            </a:pPr>
            <a:r>
              <a:rPr lang="id-ID" dirty="0"/>
              <a:t>skala yang diperbesar</a:t>
            </a:r>
          </a:p>
          <a:p>
            <a:pPr marL="88900" indent="-6350" algn="just">
              <a:buNone/>
            </a:pPr>
            <a:endParaRPr lang="id-ID"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id-ID" dirty="0"/>
              <a:t>Hal yang harus diperhatikan dalam penyajian peta:</a:t>
            </a:r>
          </a:p>
        </p:txBody>
      </p:sp>
      <p:sp>
        <p:nvSpPr>
          <p:cNvPr id="3" name="Content Placeholder 2"/>
          <p:cNvSpPr>
            <a:spLocks noGrp="1"/>
          </p:cNvSpPr>
          <p:nvPr>
            <p:ph idx="1"/>
          </p:nvPr>
        </p:nvSpPr>
        <p:spPr>
          <a:xfrm>
            <a:off x="2959608" y="1643050"/>
            <a:ext cx="7498080" cy="4605350"/>
          </a:xfrm>
        </p:spPr>
        <p:txBody>
          <a:bodyPr>
            <a:normAutofit/>
          </a:bodyPr>
          <a:lstStyle/>
          <a:p>
            <a:pPr marL="596646" indent="-514350" algn="just">
              <a:buAutoNum type="arabicPeriod"/>
            </a:pPr>
            <a:r>
              <a:rPr lang="id-ID" dirty="0"/>
              <a:t>objek- objek yang penting harus ditonjolkan.</a:t>
            </a:r>
          </a:p>
          <a:p>
            <a:pPr marL="596646" indent="-514350" algn="just">
              <a:buAutoNum type="arabicPeriod"/>
            </a:pPr>
            <a:r>
              <a:rPr lang="id-ID" dirty="0"/>
              <a:t>Perbedaan dalam bentuk harus jelas.</a:t>
            </a:r>
          </a:p>
          <a:p>
            <a:pPr marL="596646" indent="-514350" algn="just">
              <a:buAutoNum type="arabicPeriod"/>
            </a:pPr>
            <a:r>
              <a:rPr lang="id-ID" dirty="0"/>
              <a:t>Harus di hindari reduksi kontras yang disebabkan karena pencetakan warna muda dan penyinaran yang lemah.</a:t>
            </a:r>
          </a:p>
          <a:p>
            <a:pPr marL="596646" indent="-514350" algn="just">
              <a:buAutoNum type="arabicPeriod"/>
            </a:pPr>
            <a:r>
              <a:rPr lang="id-ID" dirty="0"/>
              <a:t>Harus diperhatikan kemudahan dalam proses produksinya.</a:t>
            </a:r>
          </a:p>
          <a:p>
            <a:pPr marL="88900" indent="-6350" algn="just">
              <a:buNone/>
            </a:pPr>
            <a:endParaRPr lang="id-ID"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b="1" dirty="0"/>
              <a:t>Macam-macam Generalisasi Peta</a:t>
            </a:r>
            <a:endParaRPr lang="id-ID" dirty="0"/>
          </a:p>
        </p:txBody>
      </p:sp>
      <p:sp>
        <p:nvSpPr>
          <p:cNvPr id="3" name="Content Placeholder 2"/>
          <p:cNvSpPr>
            <a:spLocks noGrp="1"/>
          </p:cNvSpPr>
          <p:nvPr>
            <p:ph idx="1"/>
          </p:nvPr>
        </p:nvSpPr>
        <p:spPr/>
        <p:txBody>
          <a:bodyPr/>
          <a:lstStyle/>
          <a:p>
            <a:pPr marL="88900" indent="-6350" algn="just">
              <a:buNone/>
            </a:pPr>
            <a:r>
              <a:rPr lang="id-ID" dirty="0"/>
              <a:t>1 .Generalisasi Geometris</a:t>
            </a:r>
          </a:p>
          <a:p>
            <a:pPr algn="just">
              <a:buNone/>
            </a:pPr>
            <a:r>
              <a:rPr lang="id-ID" dirty="0"/>
              <a:t>penyederhanaan bentuk, eksagerasi (perbesaran) dari unsur-unsur, dan pergeseran (displacement) dari unsur-unsur sebagai akibat dari eksagerasi.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2. Generalisasi Konsep</a:t>
            </a:r>
          </a:p>
        </p:txBody>
      </p:sp>
      <p:sp>
        <p:nvSpPr>
          <p:cNvPr id="3" name="Content Placeholder 2"/>
          <p:cNvSpPr>
            <a:spLocks noGrp="1"/>
          </p:cNvSpPr>
          <p:nvPr>
            <p:ph idx="1"/>
          </p:nvPr>
        </p:nvSpPr>
        <p:spPr/>
        <p:txBody>
          <a:bodyPr/>
          <a:lstStyle/>
          <a:p>
            <a:pPr marL="88900" indent="-6350" algn="just">
              <a:buNone/>
            </a:pPr>
            <a:r>
              <a:rPr lang="id-ID" dirty="0"/>
              <a:t>Generalisasi konsep tidak dilakukan oleh kartografer melainkan oleh orang yang mengetahui tentang subyek tersebut. Prosesnya terdiri dari klasifikasi dan kombinasi. </a:t>
            </a:r>
          </a:p>
          <a:p>
            <a:pPr marL="88900" indent="-6350" algn="just">
              <a:buNone/>
            </a:pPr>
            <a:r>
              <a:rPr lang="id-ID" dirty="0"/>
              <a:t>Contoh : untuk peta tanah (soil map) bila terdapat 20 </a:t>
            </a:r>
            <a:r>
              <a:rPr lang="sv-SE" dirty="0"/>
              <a:t>macam klas tanah akan disederhanakan klas tanahnya pada peta yang lebih</a:t>
            </a:r>
            <a:r>
              <a:rPr lang="id-ID" dirty="0"/>
              <a:t> kecil skalanya.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Aspek-aspek generalisasi</a:t>
            </a:r>
          </a:p>
        </p:txBody>
      </p:sp>
      <p:sp>
        <p:nvSpPr>
          <p:cNvPr id="3" name="Content Placeholder 2"/>
          <p:cNvSpPr>
            <a:spLocks noGrp="1"/>
          </p:cNvSpPr>
          <p:nvPr>
            <p:ph idx="1"/>
          </p:nvPr>
        </p:nvSpPr>
        <p:spPr/>
        <p:txBody>
          <a:bodyPr/>
          <a:lstStyle/>
          <a:p>
            <a:pPr>
              <a:buNone/>
            </a:pPr>
            <a:r>
              <a:rPr lang="id-ID" dirty="0"/>
              <a:t>1. Menyeleksi (pemilihan)</a:t>
            </a:r>
          </a:p>
          <a:p>
            <a:pPr algn="just">
              <a:buNone/>
            </a:pPr>
            <a:r>
              <a:rPr lang="id-ID" dirty="0"/>
              <a:t>	Unsur yang akan disajikan disesuaikan dengan maksud dan tujuan pembuatan peta serta skala peta yang dikehendaki.</a:t>
            </a:r>
          </a:p>
          <a:p>
            <a:pPr marL="88900" indent="-6350" algn="just">
              <a:buNone/>
            </a:pPr>
            <a:endParaRPr lang="id-ID"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9852" y="214290"/>
            <a:ext cx="7498080" cy="6286544"/>
          </a:xfrm>
        </p:spPr>
        <p:txBody>
          <a:bodyPr>
            <a:normAutofit/>
          </a:bodyPr>
          <a:lstStyle/>
          <a:p>
            <a:pPr>
              <a:buNone/>
            </a:pPr>
            <a:r>
              <a:rPr lang="id-ID" sz="3900" b="1" dirty="0"/>
              <a:t>2. Penyederhanaan</a:t>
            </a:r>
          </a:p>
          <a:p>
            <a:pPr algn="just">
              <a:buNone/>
            </a:pPr>
            <a:r>
              <a:rPr lang="id-ID" dirty="0"/>
              <a:t>	Jika terdapat unsur yang terlalu kecil, serta sulit untuk disajikan dengan detail yang cukup, maka unsur tersebut perlu disederhanakan. Contoh: pada peta topografi 1 : 5.000 umumnya rumah atau gedung deperlihatkan dalam bentuk yang sebenarnya, sebaliknya pada peta 1 : 30.000 bentuk rumah dan gedung disajikan secarah kelompok, bahkan bangunan seperti rumah ibadah di sajikan dalam bentuk symbol.</a:t>
            </a:r>
          </a:p>
          <a:p>
            <a:pPr algn="just">
              <a:buNone/>
            </a:pPr>
            <a:endParaRPr lang="id-ID"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dirty="0"/>
              <a:t>3. Menghilangkan (omittance)</a:t>
            </a:r>
          </a:p>
        </p:txBody>
      </p:sp>
      <p:sp>
        <p:nvSpPr>
          <p:cNvPr id="3" name="Content Placeholder 2"/>
          <p:cNvSpPr>
            <a:spLocks noGrp="1"/>
          </p:cNvSpPr>
          <p:nvPr>
            <p:ph idx="1"/>
          </p:nvPr>
        </p:nvSpPr>
        <p:spPr>
          <a:xfrm>
            <a:off x="2959608" y="1447800"/>
            <a:ext cx="7498080" cy="2767018"/>
          </a:xfrm>
        </p:spPr>
        <p:txBody>
          <a:bodyPr/>
          <a:lstStyle/>
          <a:p>
            <a:pPr marL="88900" indent="-6350" algn="just">
              <a:buNone/>
            </a:pPr>
            <a:r>
              <a:rPr lang="id-ID" dirty="0"/>
              <a:t>Beberapa unsur dipermukaan bumi yang dianggap tidak penting perlu dihilangkan tanpa merusak kejelasan isi peta dengan pertimbangan faktor skala dan keadaan asli dari permukaan.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4. Eksagerasi (exaggeration)</a:t>
            </a:r>
          </a:p>
        </p:txBody>
      </p:sp>
      <p:sp>
        <p:nvSpPr>
          <p:cNvPr id="3" name="Content Placeholder 2"/>
          <p:cNvSpPr>
            <a:spLocks noGrp="1"/>
          </p:cNvSpPr>
          <p:nvPr>
            <p:ph idx="1"/>
          </p:nvPr>
        </p:nvSpPr>
        <p:spPr/>
        <p:txBody>
          <a:bodyPr>
            <a:normAutofit/>
          </a:bodyPr>
          <a:lstStyle/>
          <a:p>
            <a:pPr marL="88900" indent="-6350" algn="just">
              <a:buNone/>
            </a:pPr>
            <a:r>
              <a:rPr lang="id-ID" dirty="0"/>
              <a:t>Suatu teknik pembebasan dalam penyajian suatu unsur pada peta yang dihubungkan dengan ukuran sebenarnya dari suatu unsur dalam skala tertentu dari peta. Contoh: jalan dengan lebar 10 meter jika di gambar pada peta skala 1 : 50.000 maka sebenarnya ukuran lebar jalan pada peta adalah 0,2mm. garis tersebut terlalu kecil sehingga tidak jelas bahkan dapat tertutup dengan detail-detail yang lain. Agar terlihat denga jelas maka dibuat dengan mempertebal garis jalan tersebut.</a:t>
            </a:r>
          </a:p>
          <a:p>
            <a:pPr marL="88900" indent="-6350" algn="just">
              <a:buNone/>
            </a:pPr>
            <a:endParaRPr lang="id-ID"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5. Pergeseran (Displacement)</a:t>
            </a:r>
          </a:p>
        </p:txBody>
      </p:sp>
      <p:sp>
        <p:nvSpPr>
          <p:cNvPr id="3" name="Content Placeholder 2"/>
          <p:cNvSpPr>
            <a:spLocks noGrp="1"/>
          </p:cNvSpPr>
          <p:nvPr>
            <p:ph idx="1"/>
          </p:nvPr>
        </p:nvSpPr>
        <p:spPr/>
        <p:txBody>
          <a:bodyPr/>
          <a:lstStyle/>
          <a:p>
            <a:pPr marL="88900" indent="-6350" algn="just">
              <a:buNone/>
            </a:pPr>
            <a:r>
              <a:rPr lang="id-ID" dirty="0"/>
              <a:t>Akibat eksagerasi akan berpengaruh terhadap unsur-unsur yang lain. Seperti jalan atau unsur tertentu yang mengalami eksagerasi akan terjadi overlapping dengan unsur lain. Maka untuk menghindari tumpang tindih dilakukan pergeseran.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667108" y="214291"/>
            <a:ext cx="5572164" cy="634872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b="1" dirty="0"/>
              <a:t>Petunjuk Untuk Generalisasi Peta</a:t>
            </a:r>
            <a:endParaRPr lang="id-ID" dirty="0"/>
          </a:p>
        </p:txBody>
      </p:sp>
      <p:sp>
        <p:nvSpPr>
          <p:cNvPr id="3" name="Content Placeholder 2"/>
          <p:cNvSpPr>
            <a:spLocks noGrp="1"/>
          </p:cNvSpPr>
          <p:nvPr>
            <p:ph idx="1"/>
          </p:nvPr>
        </p:nvSpPr>
        <p:spPr>
          <a:xfrm>
            <a:off x="2959608" y="1785926"/>
            <a:ext cx="7498080" cy="4462474"/>
          </a:xfrm>
        </p:spPr>
        <p:txBody>
          <a:bodyPr/>
          <a:lstStyle/>
          <a:p>
            <a:pPr marL="596900" indent="-514350" algn="just">
              <a:buAutoNum type="arabicPeriod"/>
            </a:pPr>
            <a:r>
              <a:rPr lang="id-ID" dirty="0"/>
              <a:t>Memperhatikan maksud /tujuan peta</a:t>
            </a:r>
          </a:p>
          <a:p>
            <a:pPr marL="596900" indent="-514350" algn="just">
              <a:buAutoNum type="arabicPeriod"/>
            </a:pPr>
            <a:r>
              <a:rPr lang="id-ID" dirty="0"/>
              <a:t>Memelihara sifat / karakter daerah</a:t>
            </a:r>
          </a:p>
          <a:p>
            <a:pPr marL="596900" indent="-514350" algn="just">
              <a:buAutoNum type="arabicPeriod"/>
            </a:pPr>
            <a:r>
              <a:rPr lang="id-ID" dirty="0"/>
              <a:t>Memelihara tingkat generalisasi Adalah perlu untuk mengadakan generalisasi dengan tingkat yang sama untuk seluruh peta (series).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b="1" dirty="0"/>
              <a:t>Cara Pelaksanaan Generalisasi Peta</a:t>
            </a:r>
            <a:endParaRPr lang="id-ID" dirty="0"/>
          </a:p>
        </p:txBody>
      </p:sp>
      <p:sp>
        <p:nvSpPr>
          <p:cNvPr id="3" name="Content Placeholder 2"/>
          <p:cNvSpPr>
            <a:spLocks noGrp="1"/>
          </p:cNvSpPr>
          <p:nvPr>
            <p:ph idx="1"/>
          </p:nvPr>
        </p:nvSpPr>
        <p:spPr/>
        <p:txBody>
          <a:bodyPr>
            <a:normAutofit/>
          </a:bodyPr>
          <a:lstStyle/>
          <a:p>
            <a:pPr marL="596646" indent="-514350" algn="just">
              <a:buAutoNum type="arabicPeriod"/>
            </a:pPr>
            <a:r>
              <a:rPr lang="id-ID" dirty="0"/>
              <a:t>Langsung, generalisasi dilakukan dengan menggunakan garis tipis pada peta asli yang telah dikecilkan dari peta dasar (base </a:t>
            </a:r>
            <a:r>
              <a:rPr lang="sv-SE" dirty="0"/>
              <a:t>map). Kebaikan : pengaruh generalisasi dengan segera</a:t>
            </a:r>
            <a:r>
              <a:rPr lang="id-ID" dirty="0"/>
              <a:t> </a:t>
            </a:r>
            <a:r>
              <a:rPr lang="fi-FI" dirty="0"/>
              <a:t>terlihat. Kejelekan : melakukan interpretasi pada skala kecil</a:t>
            </a:r>
            <a:r>
              <a:rPr lang="id-ID" dirty="0"/>
              <a:t> biasanya agak sukar bahkan terkadang tidak mungkin bila faktor pengecilan tersebut besar sekali.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9608" y="357166"/>
            <a:ext cx="7498080" cy="5891234"/>
          </a:xfrm>
        </p:spPr>
        <p:txBody>
          <a:bodyPr/>
          <a:lstStyle/>
          <a:p>
            <a:pPr>
              <a:buNone/>
            </a:pPr>
            <a:r>
              <a:rPr lang="id-ID" dirty="0"/>
              <a:t>2. Generalisasi dilakukan pada peta asli, yang dianggap sebagai peta dasar (base map), jadi menggunakan garis tebal. </a:t>
            </a:r>
          </a:p>
          <a:p>
            <a:pPr>
              <a:buNone/>
            </a:pPr>
            <a:r>
              <a:rPr lang="id-ID" dirty="0"/>
              <a:t>Kebaikan : apa yang akan dihasilkan terlihat dengan jelas dan menggunakan garis tebal akan lebih mudah. </a:t>
            </a:r>
          </a:p>
          <a:p>
            <a:pPr algn="just">
              <a:buNone/>
            </a:pPr>
            <a:r>
              <a:rPr lang="id-ID" dirty="0"/>
              <a:t>Kejelekan : agak sukar untuk membayangkan/menilai bagaimana hasil akhirnya (setelah diperkecil).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9608" y="428604"/>
            <a:ext cx="7498080" cy="5819796"/>
          </a:xfrm>
        </p:spPr>
        <p:txBody>
          <a:bodyPr>
            <a:normAutofit fontScale="92500" lnSpcReduction="20000"/>
          </a:bodyPr>
          <a:lstStyle/>
          <a:p>
            <a:pPr algn="just">
              <a:buNone/>
            </a:pPr>
            <a:r>
              <a:rPr lang="id-ID" sz="3500" b="1" dirty="0"/>
              <a:t>3. </a:t>
            </a:r>
            <a:r>
              <a:rPr lang="it-IT" sz="3500" b="1" dirty="0"/>
              <a:t>Generalisasi dilakukan pada skala</a:t>
            </a:r>
            <a:r>
              <a:rPr lang="id-ID" sz="3500" b="1" dirty="0"/>
              <a:t> </a:t>
            </a:r>
            <a:r>
              <a:rPr lang="it-IT" sz="3500" b="1" dirty="0"/>
              <a:t>perantara (intermediate</a:t>
            </a:r>
            <a:r>
              <a:rPr lang="id-ID" sz="3500" b="1" dirty="0"/>
              <a:t> scale).</a:t>
            </a:r>
          </a:p>
          <a:p>
            <a:pPr algn="just">
              <a:buNone/>
            </a:pPr>
            <a:r>
              <a:rPr lang="id-ID" dirty="0"/>
              <a:t>Cara ini adalah yang terbaik, dalam hal ini ada dua pengecilan (reduction) yang diperlukan, yakni : pada peta asli dan </a:t>
            </a:r>
            <a:r>
              <a:rPr lang="it-IT" dirty="0"/>
              <a:t>kemudian setelah dilakukan generalisasi sebagai </a:t>
            </a:r>
            <a:r>
              <a:rPr lang="id-ID" dirty="0"/>
              <a:t>h</a:t>
            </a:r>
            <a:r>
              <a:rPr lang="it-IT" dirty="0"/>
              <a:t>asil akhir.</a:t>
            </a:r>
            <a:r>
              <a:rPr lang="id-ID" dirty="0"/>
              <a:t> </a:t>
            </a:r>
            <a:r>
              <a:rPr lang="es-ES" dirty="0"/>
              <a:t>Misal : peta 1 : 10.000 </a:t>
            </a:r>
            <a:r>
              <a:rPr lang="es-ES" dirty="0" err="1"/>
              <a:t>diperkecil</a:t>
            </a:r>
            <a:r>
              <a:rPr lang="es-ES" dirty="0"/>
              <a:t> </a:t>
            </a:r>
            <a:r>
              <a:rPr lang="es-ES" dirty="0" err="1"/>
              <a:t>menjadi</a:t>
            </a:r>
            <a:r>
              <a:rPr lang="es-ES" dirty="0"/>
              <a:t> 1 : 25.000 </a:t>
            </a:r>
            <a:r>
              <a:rPr lang="es-ES" dirty="0" err="1"/>
              <a:t>kemudian</a:t>
            </a:r>
            <a:r>
              <a:rPr lang="id-ID" dirty="0"/>
              <a:t> pada 1 : 25.000 dilakukan generalisasi, dikecilkan lagi menjadi 1 : 50.000. Cara (1) &amp; (2) tersebut di atas digunakan pada </a:t>
            </a:r>
            <a:r>
              <a:rPr lang="sv-SE" dirty="0"/>
              <a:t>pengecilan sekitar 1/4 - 1/5 kali. Bila melakukan generalisasi</a:t>
            </a:r>
            <a:r>
              <a:rPr lang="id-ID" dirty="0"/>
              <a:t> sampai 1/10 kali atau lebih, hasil dilakukan dulu pada skala perantara.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b="1" dirty="0"/>
              <a:t>Proyeksi Peta</a:t>
            </a:r>
          </a:p>
        </p:txBody>
      </p:sp>
      <p:sp>
        <p:nvSpPr>
          <p:cNvPr id="3" name="Content Placeholder 2"/>
          <p:cNvSpPr>
            <a:spLocks noGrp="1"/>
          </p:cNvSpPr>
          <p:nvPr>
            <p:ph idx="1"/>
          </p:nvPr>
        </p:nvSpPr>
        <p:spPr/>
        <p:txBody>
          <a:bodyPr>
            <a:normAutofit/>
          </a:bodyPr>
          <a:lstStyle/>
          <a:p>
            <a:pPr marL="95250" indent="-12700" algn="just">
              <a:buNone/>
            </a:pPr>
            <a:r>
              <a:rPr lang="id-ID" sz="4000" dirty="0"/>
              <a:t>Sebuah cara untuk memindahkan garis paralel dan juga meridian atas globe atau bidang lengkung yang kemudian akan dipindahkan menuju ke bidang datar.</a:t>
            </a:r>
          </a:p>
          <a:p>
            <a:pPr marL="95250" indent="-12700" algn="just">
              <a:buNone/>
            </a:pPr>
            <a:r>
              <a:rPr lang="id-ID" sz="4000" dirty="0"/>
              <a:t>Syarat Proyeksi Peta.....?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520" y="274638"/>
            <a:ext cx="10136064" cy="1143000"/>
          </a:xfrm>
        </p:spPr>
        <p:txBody>
          <a:bodyPr>
            <a:normAutofit/>
          </a:bodyPr>
          <a:lstStyle/>
          <a:p>
            <a:r>
              <a:rPr lang="id-ID" b="1" u="sng" dirty="0"/>
              <a:t>1. Proyeksi Peta Azimuthal</a:t>
            </a:r>
            <a:endParaRPr lang="id-ID" dirty="0"/>
          </a:p>
        </p:txBody>
      </p:sp>
      <p:sp>
        <p:nvSpPr>
          <p:cNvPr id="3" name="Content Placeholder 2"/>
          <p:cNvSpPr>
            <a:spLocks noGrp="1"/>
          </p:cNvSpPr>
          <p:nvPr>
            <p:ph idx="1"/>
          </p:nvPr>
        </p:nvSpPr>
        <p:spPr>
          <a:xfrm>
            <a:off x="1631504" y="1447800"/>
            <a:ext cx="8826184" cy="2767018"/>
          </a:xfrm>
        </p:spPr>
        <p:txBody>
          <a:bodyPr/>
          <a:lstStyle/>
          <a:p>
            <a:pPr marL="88900" indent="-6350" algn="just">
              <a:buNone/>
            </a:pPr>
            <a:r>
              <a:rPr lang="id-ID" dirty="0"/>
              <a:t>Proyeksi azimuthal bidang proyeksi berupa bidang datar dan menyinggung salah satu kutub. Daerah kutub dan sekitar kutub, cukup baik digambarkan dengan proyeksi ini karena tidak banyak kesalahan.</a:t>
            </a:r>
          </a:p>
        </p:txBody>
      </p:sp>
      <p:pic>
        <p:nvPicPr>
          <p:cNvPr id="4" name="Picture 3" descr="Proyeksi Azimuthal (Zenithal)">
            <a:hlinkClick r:id="rId2"/>
          </p:cNvPr>
          <p:cNvPicPr/>
          <p:nvPr/>
        </p:nvPicPr>
        <p:blipFill>
          <a:blip r:embed="rId3"/>
          <a:srcRect/>
          <a:stretch>
            <a:fillRect/>
          </a:stretch>
        </p:blipFill>
        <p:spPr bwMode="auto">
          <a:xfrm>
            <a:off x="4079776" y="3550641"/>
            <a:ext cx="4429156" cy="2766688"/>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d-ID" b="1" u="sng" dirty="0"/>
              <a:t>Ciri-ciri Proyeksi Zenithal/ azimuthal</a:t>
            </a:r>
            <a:endParaRPr lang="id-ID" dirty="0"/>
          </a:p>
        </p:txBody>
      </p:sp>
      <p:sp>
        <p:nvSpPr>
          <p:cNvPr id="3" name="Content Placeholder 2"/>
          <p:cNvSpPr>
            <a:spLocks noGrp="1"/>
          </p:cNvSpPr>
          <p:nvPr>
            <p:ph idx="1"/>
          </p:nvPr>
        </p:nvSpPr>
        <p:spPr/>
        <p:txBody>
          <a:bodyPr>
            <a:normAutofit/>
          </a:bodyPr>
          <a:lstStyle/>
          <a:p>
            <a:pPr marL="596900" indent="-514350" algn="just">
              <a:buFont typeface="+mj-lt"/>
              <a:buAutoNum type="alphaLcPeriod"/>
            </a:pPr>
            <a:r>
              <a:rPr lang="id-ID" dirty="0"/>
              <a:t>Pada setiap garis bujurnya merupakan garis lurus yang berpusat pada suatu kutub.</a:t>
            </a:r>
          </a:p>
          <a:p>
            <a:pPr marL="596900" indent="-514350" algn="just">
              <a:buFont typeface="+mj-lt"/>
              <a:buAutoNum type="alphaLcPeriod"/>
            </a:pPr>
            <a:r>
              <a:rPr lang="id-ID" dirty="0"/>
              <a:t>Bentuk gambaran pada Garis lintang membentuk sebuah lingkaran yang konsentris yang mengitari kutub.</a:t>
            </a:r>
          </a:p>
          <a:p>
            <a:pPr marL="596900" indent="-514350" algn="just">
              <a:buFont typeface="+mj-lt"/>
              <a:buAutoNum type="alphaLcPeriod"/>
            </a:pPr>
            <a:r>
              <a:rPr lang="id-ID" dirty="0"/>
              <a:t>Sudut yang ada diantara garis bujur pada peta mempunayi ukuran yang sama.</a:t>
            </a:r>
          </a:p>
          <a:p>
            <a:pPr marL="596900" indent="-514350" algn="just">
              <a:buFont typeface="+mj-lt"/>
              <a:buAutoNum type="alphaLcPeriod"/>
            </a:pPr>
            <a:r>
              <a:rPr lang="id-ID" dirty="0"/>
              <a:t>Seluruh permukaan bumi berbentuk bulat seperti sebuah lingkaran pada saat digambar dengan proyeksi ini.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274638"/>
            <a:ext cx="10568112" cy="1143000"/>
          </a:xfrm>
        </p:spPr>
        <p:txBody>
          <a:bodyPr/>
          <a:lstStyle/>
          <a:p>
            <a:r>
              <a:rPr lang="id-ID" b="1" dirty="0"/>
              <a:t>2. </a:t>
            </a:r>
            <a:r>
              <a:rPr lang="id-ID" b="1" u="sng" dirty="0"/>
              <a:t>Proyeksi Peta Silinder</a:t>
            </a:r>
            <a:endParaRPr lang="id-ID" b="1" dirty="0"/>
          </a:p>
        </p:txBody>
      </p:sp>
      <p:sp>
        <p:nvSpPr>
          <p:cNvPr id="3" name="Content Placeholder 2"/>
          <p:cNvSpPr>
            <a:spLocks noGrp="1"/>
          </p:cNvSpPr>
          <p:nvPr>
            <p:ph idx="1"/>
          </p:nvPr>
        </p:nvSpPr>
        <p:spPr>
          <a:xfrm>
            <a:off x="1847528" y="1447800"/>
            <a:ext cx="9505056" cy="2552704"/>
          </a:xfrm>
        </p:spPr>
        <p:txBody>
          <a:bodyPr/>
          <a:lstStyle/>
          <a:p>
            <a:pPr marL="88900" indent="-6350" algn="just">
              <a:buNone/>
            </a:pPr>
            <a:r>
              <a:rPr lang="id-ID" dirty="0"/>
              <a:t>Proyeksi silinder bidang proyeksi menyinggung ekuator dan digunakan untuk di daerah di ekuator dan sekitar ekuator, karena kesalahan di daerah ini tidak ada atau sangat kecil.</a:t>
            </a:r>
          </a:p>
        </p:txBody>
      </p:sp>
      <p:pic>
        <p:nvPicPr>
          <p:cNvPr id="4" name="Picture 3" descr="Proyeksi Silinder (Cylindrical)">
            <a:hlinkClick r:id="rId2"/>
          </p:cNvPr>
          <p:cNvPicPr/>
          <p:nvPr/>
        </p:nvPicPr>
        <p:blipFill>
          <a:blip r:embed="rId3"/>
          <a:srcRect/>
          <a:stretch>
            <a:fillRect/>
          </a:stretch>
        </p:blipFill>
        <p:spPr bwMode="auto">
          <a:xfrm>
            <a:off x="3988579" y="3622088"/>
            <a:ext cx="4214842" cy="2714644"/>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4100" y="274638"/>
            <a:ext cx="7933588" cy="1143000"/>
          </a:xfrm>
        </p:spPr>
        <p:txBody>
          <a:bodyPr/>
          <a:lstStyle/>
          <a:p>
            <a:r>
              <a:rPr lang="id-ID" dirty="0"/>
              <a:t>Keuntungan P Silender</a:t>
            </a:r>
          </a:p>
        </p:txBody>
      </p:sp>
      <p:sp>
        <p:nvSpPr>
          <p:cNvPr id="3" name="Content Placeholder 2"/>
          <p:cNvSpPr>
            <a:spLocks noGrp="1"/>
          </p:cNvSpPr>
          <p:nvPr>
            <p:ph idx="1"/>
          </p:nvPr>
        </p:nvSpPr>
        <p:spPr>
          <a:xfrm>
            <a:off x="2524100" y="1447800"/>
            <a:ext cx="7933588" cy="4800600"/>
          </a:xfrm>
        </p:spPr>
        <p:txBody>
          <a:bodyPr/>
          <a:lstStyle/>
          <a:p>
            <a:pPr lvl="0" algn="just"/>
            <a:r>
              <a:rPr lang="id-ID" dirty="0"/>
              <a:t>Bisa menggambarkan daerah yang sangat luas.</a:t>
            </a:r>
          </a:p>
          <a:p>
            <a:pPr lvl="0" algn="just"/>
            <a:r>
              <a:rPr lang="id-ID" dirty="0"/>
              <a:t>Bisa menerangkan gambaran daerah disekitar khatulistiwa.</a:t>
            </a:r>
          </a:p>
          <a:p>
            <a:pPr lvl="0" algn="just"/>
            <a:r>
              <a:rPr lang="id-ID" dirty="0"/>
              <a:t>Pada daerah kutub dengan menyerupai sebuah titik dapat digambarkan seperti layaknya garis lurus.</a:t>
            </a:r>
          </a:p>
          <a:p>
            <a:pPr lvl="0" algn="just"/>
            <a:r>
              <a:rPr lang="id-ID" dirty="0"/>
              <a:t>Apabila semakin mendekati kutub, maka akan semakin luas wilayahnya.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274638"/>
            <a:ext cx="10496104" cy="1143000"/>
          </a:xfrm>
        </p:spPr>
        <p:txBody>
          <a:bodyPr>
            <a:normAutofit/>
          </a:bodyPr>
          <a:lstStyle/>
          <a:p>
            <a:r>
              <a:rPr lang="id-ID" b="1" u="sng" dirty="0"/>
              <a:t>3. Proyeksi Peta Kerucut</a:t>
            </a:r>
            <a:endParaRPr lang="id-ID" dirty="0"/>
          </a:p>
        </p:txBody>
      </p:sp>
      <p:sp>
        <p:nvSpPr>
          <p:cNvPr id="3" name="Content Placeholder 2"/>
          <p:cNvSpPr>
            <a:spLocks noGrp="1"/>
          </p:cNvSpPr>
          <p:nvPr>
            <p:ph idx="1"/>
          </p:nvPr>
        </p:nvSpPr>
        <p:spPr>
          <a:xfrm>
            <a:off x="1919536" y="1447800"/>
            <a:ext cx="9361040" cy="3124208"/>
          </a:xfrm>
        </p:spPr>
        <p:txBody>
          <a:bodyPr/>
          <a:lstStyle/>
          <a:p>
            <a:pPr marL="88900" indent="-6350" algn="just">
              <a:buNone/>
            </a:pPr>
            <a:r>
              <a:rPr lang="id-ID" dirty="0"/>
              <a:t>Proyeksi kerucut bidang proyeksi berupa kerucut dan menyinggung salah satu paralel di sekitar lintang tengah dan baik digunakan di daerah ini karena kesalahan yang sangat kecil, sedang pada paralel singgung kesalahan tidak ada.</a:t>
            </a:r>
          </a:p>
        </p:txBody>
      </p:sp>
      <p:pic>
        <p:nvPicPr>
          <p:cNvPr id="6" name="Picture 5" descr="Proyeksi Kerucut">
            <a:hlinkClick r:id="rId2"/>
            <a:extLst>
              <a:ext uri="{FF2B5EF4-FFF2-40B4-BE49-F238E27FC236}">
                <a16:creationId xmlns:a16="http://schemas.microsoft.com/office/drawing/2014/main" id="{ED2B9A94-9CA3-426B-82CA-9A120D930567}"/>
              </a:ext>
            </a:extLst>
          </p:cNvPr>
          <p:cNvPicPr/>
          <p:nvPr/>
        </p:nvPicPr>
        <p:blipFill>
          <a:blip r:embed="rId3"/>
          <a:srcRect/>
          <a:stretch>
            <a:fillRect/>
          </a:stretch>
        </p:blipFill>
        <p:spPr bwMode="auto">
          <a:xfrm>
            <a:off x="4151784" y="3733800"/>
            <a:ext cx="4653160" cy="3000396"/>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u="sng" dirty="0"/>
              <a:t>Segi sifat kebenaran</a:t>
            </a:r>
            <a:endParaRPr lang="id-ID" dirty="0"/>
          </a:p>
        </p:txBody>
      </p:sp>
      <p:sp>
        <p:nvSpPr>
          <p:cNvPr id="3" name="Content Placeholder 2"/>
          <p:cNvSpPr>
            <a:spLocks noGrp="1"/>
          </p:cNvSpPr>
          <p:nvPr>
            <p:ph idx="1"/>
          </p:nvPr>
        </p:nvSpPr>
        <p:spPr/>
        <p:txBody>
          <a:bodyPr/>
          <a:lstStyle/>
          <a:p>
            <a:pPr marL="596900" indent="-514350" algn="just">
              <a:buAutoNum type="arabicPeriod"/>
            </a:pPr>
            <a:r>
              <a:rPr lang="id-ID" u="sng" dirty="0"/>
              <a:t>Proyeksi Ekuidistant yakni unsur jarak pada arah tertentu dipertahankan kebenarannya.</a:t>
            </a:r>
          </a:p>
          <a:p>
            <a:pPr marL="596900" indent="-514350" algn="just">
              <a:buFont typeface="Wingdings 2"/>
              <a:buAutoNum type="arabicPeriod"/>
            </a:pPr>
            <a:r>
              <a:rPr lang="id-ID" u="sng" dirty="0"/>
              <a:t>Proyeksi konformal atau ortomorfik yakni unsur bentuk dan arah dipertahankan kebenarannya.</a:t>
            </a:r>
            <a:endParaRPr lang="id-ID"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1504" y="571480"/>
            <a:ext cx="8676428" cy="4800600"/>
          </a:xfrm>
        </p:spPr>
        <p:txBody>
          <a:bodyPr/>
          <a:lstStyle/>
          <a:p>
            <a:pPr lvl="0" algn="just">
              <a:buNone/>
            </a:pPr>
            <a:r>
              <a:rPr lang="id-ID" dirty="0"/>
              <a:t>3.Proyeksi Ekuivalent atau equal area yakni unsur luas tetap dipertahankan kebenarannya walaupun bentuknya sudah tidak sesuai lagi dengan sebanarnya.</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404</TotalTime>
  <Words>1078</Words>
  <Application>Microsoft Office PowerPoint</Application>
  <PresentationFormat>Widescreen</PresentationFormat>
  <Paragraphs>96</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Calibri</vt:lpstr>
      <vt:lpstr>Gill Sans MT</vt:lpstr>
      <vt:lpstr>Verdana</vt:lpstr>
      <vt:lpstr>Wingdings 2</vt:lpstr>
      <vt:lpstr>Solstice</vt:lpstr>
      <vt:lpstr>PowerPoint Presentation</vt:lpstr>
      <vt:lpstr>Simbolisasi</vt:lpstr>
      <vt:lpstr>Fungsi Simbol pada peta</vt:lpstr>
      <vt:lpstr>Syarat Simbol Peta</vt:lpstr>
      <vt:lpstr>Klasifikasi Data untuk Simbol</vt:lpstr>
      <vt:lpstr>Jenis Simbol</vt:lpstr>
      <vt:lpstr>Jenis Simbol</vt:lpstr>
      <vt:lpstr>b. Simbol Alam</vt:lpstr>
      <vt:lpstr>c. Simbol Garis</vt:lpstr>
      <vt:lpstr>d. Simbol Titik</vt:lpstr>
      <vt:lpstr>e. Simbol Area</vt:lpstr>
      <vt:lpstr>Generalisasi Peta</vt:lpstr>
      <vt:lpstr>PowerPoint Presentation</vt:lpstr>
      <vt:lpstr>Hal yang harus diperhatikan dalam penyajian peta:</vt:lpstr>
      <vt:lpstr>Macam-macam Generalisasi Peta</vt:lpstr>
      <vt:lpstr>2. Generalisasi Konsep</vt:lpstr>
      <vt:lpstr>Aspek-aspek generalisasi</vt:lpstr>
      <vt:lpstr>PowerPoint Presentation</vt:lpstr>
      <vt:lpstr>3. Menghilangkan (omittance)</vt:lpstr>
      <vt:lpstr>4. Eksagerasi (exaggeration)</vt:lpstr>
      <vt:lpstr>5. Pergeseran (Displacement)</vt:lpstr>
      <vt:lpstr>PowerPoint Presentation</vt:lpstr>
      <vt:lpstr>Petunjuk Untuk Generalisasi Peta</vt:lpstr>
      <vt:lpstr>Cara Pelaksanaan Generalisasi Peta</vt:lpstr>
      <vt:lpstr>PowerPoint Presentation</vt:lpstr>
      <vt:lpstr>PowerPoint Presentation</vt:lpstr>
      <vt:lpstr>Proyeksi Peta</vt:lpstr>
      <vt:lpstr>1. Proyeksi Peta Azimuthal</vt:lpstr>
      <vt:lpstr>Ciri-ciri Proyeksi Zenithal/ azimuthal</vt:lpstr>
      <vt:lpstr>2. Proyeksi Peta Silinder</vt:lpstr>
      <vt:lpstr>Keuntungan P Silender</vt:lpstr>
      <vt:lpstr>3. Proyeksi Peta Kerucut</vt:lpstr>
      <vt:lpstr>Segi sifat kebenaran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Simbolisasi dan Generalisasi</dc:title>
  <dc:creator>majosutan</dc:creator>
  <cp:lastModifiedBy>arie zella</cp:lastModifiedBy>
  <cp:revision>47</cp:revision>
  <dcterms:created xsi:type="dcterms:W3CDTF">2020-04-09T02:45:37Z</dcterms:created>
  <dcterms:modified xsi:type="dcterms:W3CDTF">2024-01-11T04:42:16Z</dcterms:modified>
</cp:coreProperties>
</file>